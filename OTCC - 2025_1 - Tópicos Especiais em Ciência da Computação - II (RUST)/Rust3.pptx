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</p:sldIdLst>
  <p:sldSz cx="9144000" cy="6858000" type="screen4x3"/>
  <p:notesSz cx="7099300" cy="10234613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4830"/>
    <a:srgbClr val="F6EEE2"/>
    <a:srgbClr val="003300"/>
    <a:srgbClr val="BC0406"/>
    <a:srgbClr val="6B173B"/>
    <a:srgbClr val="A80A0A"/>
    <a:srgbClr val="BC0404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Destaqu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Estilo Claro 2 - Destaqu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Estilo Médio 1 - Destaqu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Estilo Médio 1 - Destaqu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Estilo Médio 2 - Destaqu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07" autoAdjust="0"/>
    <p:restoredTop sz="99283" autoAdjust="0"/>
  </p:normalViewPr>
  <p:slideViewPr>
    <p:cSldViewPr>
      <p:cViewPr varScale="1">
        <p:scale>
          <a:sx n="105" d="100"/>
          <a:sy n="105" d="100"/>
        </p:scale>
        <p:origin x="1518" y="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018"/>
    </p:cViewPr>
  </p:sorterViewPr>
  <p:notesViewPr>
    <p:cSldViewPr>
      <p:cViewPr varScale="1">
        <p:scale>
          <a:sx n="73" d="100"/>
          <a:sy n="73" d="100"/>
        </p:scale>
        <p:origin x="-2742" y="-96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768" tIns="47384" rIns="94768" bIns="47384" numCol="1" anchor="t" anchorCtr="0" compatLnSpc="1">
            <a:prstTxWarp prst="textNoShape">
              <a:avLst/>
            </a:prstTxWarp>
          </a:bodyPr>
          <a:lstStyle>
            <a:lvl1pPr defTabSz="947738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768" tIns="47384" rIns="94768" bIns="47384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768" tIns="47384" rIns="94768" bIns="47384" numCol="1" anchor="b" anchorCtr="0" compatLnSpc="1">
            <a:prstTxWarp prst="textNoShape">
              <a:avLst/>
            </a:prstTxWarp>
          </a:bodyPr>
          <a:lstStyle>
            <a:lvl1pPr defTabSz="947738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768" tIns="47384" rIns="94768" bIns="47384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fld id="{CF922208-E5D9-4263-B9FB-78A8D4824CB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89C2D-2F71-46A5-84B2-AB4091625722}" type="datetimeFigureOut">
              <a:rPr lang="pt-BR"/>
              <a:pPr>
                <a:defRPr/>
              </a:pPr>
              <a:t>26/03/2025</a:t>
            </a:fld>
            <a:endParaRPr lang="pt-BR"/>
          </a:p>
        </p:txBody>
      </p:sp>
      <p:sp>
        <p:nvSpPr>
          <p:cNvPr id="1054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1400" y="762000"/>
            <a:ext cx="5080000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536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7536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61094B7-70E9-4F1A-80E1-803B2DCC0E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PT"/>
              <a:t>Faça clique para editar o estilo</a:t>
            </a:r>
            <a:endParaRPr lang="pt-B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EBBAED-F231-4374-90A5-01E7AD02031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pt-PT" dirty="0"/>
              <a:t>Clique para editar o estilo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pt-BR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6667A-2B17-4077-9A01-4DB69B502DB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pt-PT" dirty="0"/>
              <a:t>Clique para editar o estilo</a:t>
            </a:r>
            <a:endParaRPr lang="pt-BR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PT" dirty="0"/>
              <a:t>Clique para editar os estilos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80CE84-818A-4325-9CEE-70EE1A0BFD4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pt-PT" dirty="0"/>
              <a:t>Clique para editar o estilo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pt-BR" dirty="0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pt-BR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8177B6-2A4A-4DC1-8413-CAF24CFE6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pt-PT" dirty="0"/>
              <a:t>Clique para editar o estilo</a:t>
            </a:r>
            <a:endParaRPr lang="pt-BR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4432A-15AD-45DE-B954-DA9D1DF427C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3090D9-381F-48B4-B4F3-7A25AACAF5A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pt-BR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50428E-12BD-4151-9511-102E6D7EBBC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pt-BR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419A0A-0FC9-407D-A122-E43D0E42CBA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pt-BR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16680-8C08-427B-96A5-4AAD5BEA13F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304800"/>
            <a:ext cx="2057400" cy="5821363"/>
          </a:xfrm>
        </p:spPr>
        <p:txBody>
          <a:bodyPr vert="eaVert"/>
          <a:lstStyle/>
          <a:p>
            <a:r>
              <a:rPr lang="pt-PT"/>
              <a:t>Clique para editar o estilo</a:t>
            </a:r>
            <a:endParaRPr lang="pt-BR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21363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3F4F95-8662-4EBF-9CA4-4AB5F2C9DAC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8800" y="304800"/>
            <a:ext cx="6781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9572E79-7532-498E-AD23-97978A5D0CF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cxnSp>
        <p:nvCxnSpPr>
          <p:cNvPr id="33799" name="AutoShape 9"/>
          <p:cNvCxnSpPr>
            <a:cxnSpLocks noChangeShapeType="1"/>
          </p:cNvCxnSpPr>
          <p:nvPr userDrawn="1"/>
        </p:nvCxnSpPr>
        <p:spPr bwMode="auto">
          <a:xfrm>
            <a:off x="1258888" y="1484313"/>
            <a:ext cx="7416800" cy="0"/>
          </a:xfrm>
          <a:prstGeom prst="straightConnector1">
            <a:avLst/>
          </a:prstGeom>
          <a:noFill/>
          <a:ln w="28575">
            <a:solidFill>
              <a:srgbClr val="714830"/>
            </a:solidFill>
            <a:round/>
            <a:headEnd/>
            <a:tailEnd/>
          </a:ln>
        </p:spPr>
      </p:cxn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3810000" y="32242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pt-BR"/>
          </a:p>
        </p:txBody>
      </p:sp>
      <p:pic>
        <p:nvPicPr>
          <p:cNvPr id="33801" name="Picture 12" descr="C:\Documents and Settings\user\Favorites\My Documents\My Pictures\udesc.png"/>
          <p:cNvPicPr>
            <a:picLocks noChangeAspect="1" noChangeArrowheads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152400" y="152400"/>
            <a:ext cx="1447800" cy="129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4" r:id="rId5"/>
    <p:sldLayoutId id="2147483653" r:id="rId6"/>
    <p:sldLayoutId id="2147483652" r:id="rId7"/>
    <p:sldLayoutId id="2147483651" r:id="rId8"/>
    <p:sldLayoutId id="2147483650" r:id="rId9"/>
    <p:sldLayoutId id="2147483649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aseline="0">
          <a:solidFill>
            <a:srgbClr val="714830"/>
          </a:solidFill>
          <a:latin typeface="Times New Roman" pitchFamily="18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3300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3300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3300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3300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3300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3300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3300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33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aseline="0">
          <a:solidFill>
            <a:srgbClr val="714830"/>
          </a:solidFill>
          <a:latin typeface="Times New Roman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600" baseline="0">
          <a:solidFill>
            <a:srgbClr val="714830"/>
          </a:solidFill>
          <a:latin typeface="Times New Roman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aseline="0">
          <a:solidFill>
            <a:srgbClr val="714830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aseline="0">
          <a:solidFill>
            <a:srgbClr val="714830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aseline="0">
          <a:solidFill>
            <a:srgbClr val="714830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79912" y="1844824"/>
            <a:ext cx="3456384" cy="1440160"/>
          </a:xfrm>
        </p:spPr>
        <p:txBody>
          <a:bodyPr/>
          <a:lstStyle/>
          <a:p>
            <a:pPr eaLnBrk="1" hangingPunct="1"/>
            <a:r>
              <a:rPr lang="pt-BR" sz="9600" dirty="0" err="1">
                <a:solidFill>
                  <a:srgbClr val="714830"/>
                </a:solidFill>
                <a:latin typeface="Source Sans Pro Black" panose="020F0502020204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Rust</a:t>
            </a:r>
            <a:endParaRPr lang="pt-BR" sz="9600" dirty="0">
              <a:solidFill>
                <a:srgbClr val="714830"/>
              </a:solidFill>
              <a:latin typeface="Source Sans Pro Black" panose="020F0502020204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3866549"/>
            <a:ext cx="7086600" cy="1002611"/>
          </a:xfrm>
        </p:spPr>
        <p:txBody>
          <a:bodyPr/>
          <a:lstStyle/>
          <a:p>
            <a:pPr eaLnBrk="1" hangingPunct="1"/>
            <a:r>
              <a:rPr lang="pt-BR" sz="2400" dirty="0">
                <a:solidFill>
                  <a:srgbClr val="71483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Cristiano Damiani Vasconcellos</a:t>
            </a:r>
          </a:p>
          <a:p>
            <a:pPr eaLnBrk="1" hangingPunct="1"/>
            <a:r>
              <a:rPr lang="pt-BR" sz="2000" dirty="0">
                <a:solidFill>
                  <a:srgbClr val="71483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cristiano.vasconcellos@udesc.br</a:t>
            </a:r>
          </a:p>
        </p:txBody>
      </p:sp>
      <p:cxnSp>
        <p:nvCxnSpPr>
          <p:cNvPr id="34820" name="AutoShape 8"/>
          <p:cNvCxnSpPr>
            <a:cxnSpLocks noChangeShapeType="1"/>
          </p:cNvCxnSpPr>
          <p:nvPr/>
        </p:nvCxnSpPr>
        <p:spPr bwMode="auto">
          <a:xfrm>
            <a:off x="1295400" y="4869160"/>
            <a:ext cx="7416800" cy="0"/>
          </a:xfrm>
          <a:prstGeom prst="straightConnector1">
            <a:avLst/>
          </a:prstGeom>
          <a:noFill/>
          <a:ln w="28575">
            <a:solidFill>
              <a:srgbClr val="714830"/>
            </a:solidFill>
            <a:round/>
            <a:headEnd/>
            <a:tailEnd/>
          </a:ln>
        </p:spPr>
      </p:cxnSp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E050441F-8028-9C51-20A7-94BEB08437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994411"/>
              </p:ext>
            </p:extLst>
          </p:nvPr>
        </p:nvGraphicFramePr>
        <p:xfrm>
          <a:off x="1687166" y="1556792"/>
          <a:ext cx="2092746" cy="2062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123823" imgH="5049488" progId="">
                  <p:embed/>
                </p:oleObj>
              </mc:Choice>
              <mc:Fallback>
                <p:oleObj r:id="rId2" imgW="5123823" imgH="5049488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87166" y="1556792"/>
                        <a:ext cx="2092746" cy="20622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8D711A-ECB7-FDB5-E197-4B438DB89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&amp;</a:t>
            </a:r>
            <a:r>
              <a:rPr lang="pt-BR" dirty="0" err="1"/>
              <a:t>str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E9F41F-F3AE-E5B4-5B75-E551B7F2C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153400" cy="3124944"/>
          </a:xfrm>
        </p:spPr>
        <p:txBody>
          <a:bodyPr/>
          <a:lstStyle/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fn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main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() {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s1 = "Departamento\n\"Ciência\" da Computação";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s2 = "Departamento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\"Ciência\" da Computação";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s3 = "C:\\Temp";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s4 = 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r"C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:\Temp";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b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!("{s1}");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!("{s2}");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!("{s3}");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!("{s4}");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7311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E937-0655-D59D-EB5C-DF4DF5372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371A3-4FA4-B369-7CA0-F6C58B197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&amp;</a:t>
            </a:r>
            <a:r>
              <a:rPr lang="pt-BR" dirty="0" err="1"/>
              <a:t>str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1ADA4A-F567-9E69-7506-8BDAC815C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153400" cy="3124944"/>
          </a:xfrm>
        </p:spPr>
        <p:txBody>
          <a:bodyPr/>
          <a:lstStyle/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fn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main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() {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s1 = "Ciência";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    for c in s1.chars() {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!("{c}");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    for c in s1.bytes() {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!("{c}");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!("{s1}");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b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5687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03ABE-1680-18F9-E552-9CF1EF979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A65F2-214D-0E06-5CED-01C00AE9A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String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5F9B07-A911-2C23-5306-A1D1C75D7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075240" cy="2692895"/>
          </a:xfrm>
        </p:spPr>
        <p:txBody>
          <a:bodyPr/>
          <a:lstStyle/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fn</a:t>
            </a:r>
            <a:r>
              <a:rPr lang="en-US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main() {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  let mut s1 = “</a:t>
            </a:r>
            <a:r>
              <a:rPr lang="en-US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Ciênci</a:t>
            </a:r>
            <a:r>
              <a:rPr lang="en-US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”;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   let mut s2 = s1.to_string();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lang="en-US" sz="1600" kern="12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+mn-ea"/>
                <a:cs typeface="+mn-cs"/>
              </a:rPr>
              <a:t> // s1.push('a'); Erro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  s2.push('a');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lang="en-US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lang="en-US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!("{s1} – {s2}");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s2 = “teste".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to_string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  s1 = “outro";</a:t>
            </a:r>
          </a:p>
          <a:p>
            <a:pPr marL="0" indent="0">
              <a:lnSpc>
                <a:spcPts val="1425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lang="pt-BR" sz="1600" kern="1200" dirty="0" err="1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lang="pt-BR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!("{s1} - {s2}");</a:t>
            </a:r>
            <a:br>
              <a:rPr lang="en-US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en-US" sz="16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3069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D4E1C-C8E5-30D6-7EDC-6C80D2452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Ownership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4A4629-0AAF-2FF4-4CEA-6D10D7D80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363272" cy="1684783"/>
          </a:xfrm>
        </p:spPr>
        <p:txBody>
          <a:bodyPr/>
          <a:lstStyle/>
          <a:p>
            <a:pPr marL="0" indent="0" algn="just">
              <a:buNone/>
            </a:pPr>
            <a:r>
              <a:rPr lang="pt-BR" sz="2400" dirty="0"/>
              <a:t>Podemos pensar que ter a “propriedade” de uma área de memória é ter o controle de quando ela será liberada. Na atribuição essa propriedade é transferida, com exceção de dados que são integramente copiados (</a:t>
            </a:r>
            <a:r>
              <a:rPr lang="pt-BR" sz="2400" i="1" dirty="0"/>
              <a:t>e.g.</a:t>
            </a:r>
            <a:r>
              <a:rPr lang="pt-BR" sz="2400" dirty="0"/>
              <a:t> i32, u64, f64).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4E10524-A5A0-34C5-5627-A5384C239E6D}"/>
              </a:ext>
            </a:extLst>
          </p:cNvPr>
          <p:cNvSpPr txBox="1"/>
          <p:nvPr/>
        </p:nvSpPr>
        <p:spPr>
          <a:xfrm>
            <a:off x="539552" y="3501008"/>
            <a:ext cx="5400600" cy="2421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 err="1">
                <a:latin typeface="Consolas" panose="020B06090202040302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</a:rPr>
              <a:t> main() {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   let x1 = 54;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   let x2 = x1;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   </a:t>
            </a:r>
            <a:r>
              <a:rPr lang="en-US" sz="1600" dirty="0" err="1">
                <a:latin typeface="Consolas" panose="020B0609020204030204" pitchFamily="49" charset="0"/>
              </a:rPr>
              <a:t>println</a:t>
            </a:r>
            <a:r>
              <a:rPr lang="en-US" sz="1600" dirty="0">
                <a:latin typeface="Consolas" panose="020B0609020204030204" pitchFamily="49" charset="0"/>
              </a:rPr>
              <a:t>!("{x1} - {x2}");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   let s1 = "teste".</a:t>
            </a:r>
            <a:r>
              <a:rPr lang="en-US" sz="1600" dirty="0" err="1">
                <a:latin typeface="Consolas" panose="020B0609020204030204" pitchFamily="49" charset="0"/>
              </a:rPr>
              <a:t>to_string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   let s2 = s1;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   </a:t>
            </a:r>
            <a:r>
              <a:rPr lang="en-US" sz="1600" dirty="0" err="1">
                <a:latin typeface="Consolas" panose="020B0609020204030204" pitchFamily="49" charset="0"/>
              </a:rPr>
              <a:t>println</a:t>
            </a:r>
            <a:r>
              <a:rPr lang="en-US" sz="1600" dirty="0">
                <a:latin typeface="Consolas" panose="020B0609020204030204" pitchFamily="49" charset="0"/>
              </a:rPr>
              <a:t>!("{s1} - {s2}");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6260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3EFBE-35FB-EE84-3911-79EDFB6EF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DF6F0-62F4-A81B-8CAE-C9E313525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Ownership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C58D13-5366-D2DC-B6D5-F4F65FA48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363272" cy="1684783"/>
          </a:xfrm>
        </p:spPr>
        <p:txBody>
          <a:bodyPr/>
          <a:lstStyle/>
          <a:p>
            <a:pPr marL="0" indent="0" algn="just">
              <a:buNone/>
            </a:pPr>
            <a:r>
              <a:rPr lang="pt-BR" sz="2400" dirty="0"/>
              <a:t>Regras de propriedade:</a:t>
            </a:r>
          </a:p>
          <a:p>
            <a:pPr algn="just"/>
            <a:r>
              <a:rPr lang="pt-BR" sz="2400" dirty="0"/>
              <a:t>Cada área de memória possui apenas um dono;</a:t>
            </a:r>
          </a:p>
          <a:p>
            <a:pPr algn="just"/>
            <a:r>
              <a:rPr lang="pt-BR" sz="2400" dirty="0"/>
              <a:t>Quando o dono sai do escopo a área e liberada.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29C6F28-5AAC-EE23-2106-BBFE25BE88B3}"/>
              </a:ext>
            </a:extLst>
          </p:cNvPr>
          <p:cNvSpPr txBox="1"/>
          <p:nvPr/>
        </p:nvSpPr>
        <p:spPr>
          <a:xfrm>
            <a:off x="457200" y="3270200"/>
            <a:ext cx="3970784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 err="1">
                <a:latin typeface="Consolas" panose="020B0609020204030204" pitchFamily="49" charset="0"/>
              </a:rPr>
              <a:t>fn</a:t>
            </a:r>
            <a:r>
              <a:rPr lang="pt-BR" sz="1600" dirty="0">
                <a:latin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</a:rPr>
              <a:t>foo</a:t>
            </a:r>
            <a:r>
              <a:rPr lang="pt-BR" sz="1600" dirty="0">
                <a:latin typeface="Consolas" panose="020B0609020204030204" pitchFamily="49" charset="0"/>
              </a:rPr>
              <a:t> (</a:t>
            </a:r>
            <a:r>
              <a:rPr lang="pt-BR" sz="1600" dirty="0" err="1">
                <a:latin typeface="Consolas" panose="020B0609020204030204" pitchFamily="49" charset="0"/>
              </a:rPr>
              <a:t>s:String</a:t>
            </a:r>
            <a:r>
              <a:rPr lang="pt-BR" sz="1600" dirty="0">
                <a:latin typeface="Consolas" panose="020B0609020204030204" pitchFamily="49" charset="0"/>
              </a:rPr>
              <a:t>) {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    </a:t>
            </a:r>
            <a:r>
              <a:rPr lang="pt-BR" sz="1600" dirty="0" err="1">
                <a:latin typeface="Consolas" panose="020B0609020204030204" pitchFamily="49" charset="0"/>
              </a:rPr>
              <a:t>println</a:t>
            </a:r>
            <a:r>
              <a:rPr lang="pt-BR" sz="1600" dirty="0">
                <a:latin typeface="Consolas" panose="020B0609020204030204" pitchFamily="49" charset="0"/>
              </a:rPr>
              <a:t>!("{s}");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}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br>
              <a:rPr lang="pt-BR" sz="1600" dirty="0">
                <a:latin typeface="Consolas" panose="020B0609020204030204" pitchFamily="49" charset="0"/>
              </a:rPr>
            </a:br>
            <a:r>
              <a:rPr lang="pt-BR" sz="1600" dirty="0" err="1">
                <a:latin typeface="Consolas" panose="020B0609020204030204" pitchFamily="49" charset="0"/>
              </a:rPr>
              <a:t>fn</a:t>
            </a:r>
            <a:r>
              <a:rPr lang="pt-BR" sz="1600" dirty="0">
                <a:latin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</a:rPr>
              <a:t>main</a:t>
            </a:r>
            <a:r>
              <a:rPr lang="pt-BR" sz="1600" dirty="0">
                <a:latin typeface="Consolas" panose="020B0609020204030204" pitchFamily="49" charset="0"/>
              </a:rPr>
              <a:t>() {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   </a:t>
            </a:r>
            <a:r>
              <a:rPr lang="pt-BR" sz="1600" dirty="0" err="1">
                <a:latin typeface="Consolas" panose="020B0609020204030204" pitchFamily="49" charset="0"/>
              </a:rPr>
              <a:t>let</a:t>
            </a:r>
            <a:r>
              <a:rPr lang="pt-BR" sz="1600" dirty="0">
                <a:latin typeface="Consolas" panose="020B0609020204030204" pitchFamily="49" charset="0"/>
              </a:rPr>
              <a:t> s1 = "teste".</a:t>
            </a:r>
            <a:r>
              <a:rPr lang="pt-BR" sz="1600" dirty="0" err="1">
                <a:latin typeface="Consolas" panose="020B0609020204030204" pitchFamily="49" charset="0"/>
              </a:rPr>
              <a:t>to_string</a:t>
            </a:r>
            <a:r>
              <a:rPr lang="pt-BR" sz="1600" dirty="0">
                <a:latin typeface="Consolas" panose="020B0609020204030204" pitchFamily="49" charset="0"/>
              </a:rPr>
              <a:t>();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   </a:t>
            </a:r>
            <a:r>
              <a:rPr lang="pt-BR" sz="1600" dirty="0" err="1">
                <a:latin typeface="Consolas" panose="020B0609020204030204" pitchFamily="49" charset="0"/>
              </a:rPr>
              <a:t>foo</a:t>
            </a:r>
            <a:r>
              <a:rPr lang="pt-BR" sz="1600" dirty="0">
                <a:latin typeface="Consolas" panose="020B0609020204030204" pitchFamily="49" charset="0"/>
              </a:rPr>
              <a:t>(s1);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   </a:t>
            </a:r>
            <a:r>
              <a:rPr lang="pt-BR" sz="1600" dirty="0" err="1">
                <a:latin typeface="Consolas" panose="020B0609020204030204" pitchFamily="49" charset="0"/>
              </a:rPr>
              <a:t>println</a:t>
            </a:r>
            <a:r>
              <a:rPr lang="pt-BR" sz="1600" dirty="0">
                <a:latin typeface="Consolas" panose="020B0609020204030204" pitchFamily="49" charset="0"/>
              </a:rPr>
              <a:t>!("{s1}");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// Erro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pt-BR" sz="1600" dirty="0">
                <a:latin typeface="Consolas" panose="020B0609020204030204" pitchFamily="49" charset="0"/>
              </a:rPr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80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6EA69-9326-71C2-A480-7659C93A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305C4-94CC-2B4F-5FBC-44E64508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Ownership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08991E1-75D7-74ED-A3BD-FB5353E7ACBC}"/>
              </a:ext>
            </a:extLst>
          </p:cNvPr>
          <p:cNvSpPr txBox="1"/>
          <p:nvPr/>
        </p:nvSpPr>
        <p:spPr>
          <a:xfrm>
            <a:off x="457200" y="3212976"/>
            <a:ext cx="540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A5ADBAC-815E-798C-70F4-65455D03C8CF}"/>
              </a:ext>
            </a:extLst>
          </p:cNvPr>
          <p:cNvSpPr txBox="1"/>
          <p:nvPr/>
        </p:nvSpPr>
        <p:spPr>
          <a:xfrm>
            <a:off x="676416" y="1784380"/>
            <a:ext cx="3888432" cy="2857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 err="1">
                <a:latin typeface="Consolas" panose="020B0609020204030204" pitchFamily="49" charset="0"/>
              </a:rPr>
              <a:t>fn</a:t>
            </a:r>
            <a:r>
              <a:rPr lang="pt-BR" sz="1600" dirty="0">
                <a:latin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</a:rPr>
              <a:t>foo</a:t>
            </a:r>
            <a:r>
              <a:rPr lang="pt-BR" sz="1600" dirty="0">
                <a:latin typeface="Consolas" panose="020B0609020204030204" pitchFamily="49" charset="0"/>
              </a:rPr>
              <a:t> (</a:t>
            </a:r>
            <a:r>
              <a:rPr lang="pt-BR" sz="1600" dirty="0" err="1">
                <a:latin typeface="Consolas" panose="020B0609020204030204" pitchFamily="49" charset="0"/>
              </a:rPr>
              <a:t>s:String</a:t>
            </a:r>
            <a:r>
              <a:rPr lang="pt-BR" sz="1600" dirty="0">
                <a:latin typeface="Consolas" panose="020B0609020204030204" pitchFamily="49" charset="0"/>
              </a:rPr>
              <a:t>) -&gt; </a:t>
            </a:r>
            <a:r>
              <a:rPr lang="pt-BR" sz="1600" dirty="0" err="1">
                <a:latin typeface="Consolas" panose="020B0609020204030204" pitchFamily="49" charset="0"/>
              </a:rPr>
              <a:t>String</a:t>
            </a:r>
            <a:r>
              <a:rPr lang="pt-BR" sz="1600" dirty="0">
                <a:latin typeface="Consolas" panose="020B0609020204030204" pitchFamily="49" charset="0"/>
              </a:rPr>
              <a:t> {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    </a:t>
            </a:r>
            <a:r>
              <a:rPr lang="pt-BR" sz="1600" dirty="0" err="1">
                <a:latin typeface="Consolas" panose="020B0609020204030204" pitchFamily="49" charset="0"/>
              </a:rPr>
              <a:t>println</a:t>
            </a:r>
            <a:r>
              <a:rPr lang="pt-BR" sz="1600" dirty="0">
                <a:latin typeface="Consolas" panose="020B0609020204030204" pitchFamily="49" charset="0"/>
              </a:rPr>
              <a:t>!("{s}");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    s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}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br>
              <a:rPr lang="pt-BR" sz="1600" dirty="0">
                <a:latin typeface="Consolas" panose="020B0609020204030204" pitchFamily="49" charset="0"/>
              </a:rPr>
            </a:br>
            <a:r>
              <a:rPr lang="pt-BR" sz="1600" dirty="0" err="1">
                <a:latin typeface="Consolas" panose="020B0609020204030204" pitchFamily="49" charset="0"/>
              </a:rPr>
              <a:t>fn</a:t>
            </a:r>
            <a:r>
              <a:rPr lang="pt-BR" sz="1600" dirty="0">
                <a:latin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</a:rPr>
              <a:t>main</a:t>
            </a:r>
            <a:r>
              <a:rPr lang="pt-BR" sz="1600" dirty="0">
                <a:latin typeface="Consolas" panose="020B0609020204030204" pitchFamily="49" charset="0"/>
              </a:rPr>
              <a:t>() {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   </a:t>
            </a:r>
            <a:r>
              <a:rPr lang="pt-BR" sz="1600" dirty="0" err="1">
                <a:latin typeface="Consolas" panose="020B0609020204030204" pitchFamily="49" charset="0"/>
              </a:rPr>
              <a:t>let</a:t>
            </a:r>
            <a:r>
              <a:rPr lang="pt-BR" sz="1600" dirty="0">
                <a:latin typeface="Consolas" panose="020B0609020204030204" pitchFamily="49" charset="0"/>
              </a:rPr>
              <a:t> s1 = "teste".</a:t>
            </a:r>
            <a:r>
              <a:rPr lang="pt-BR" sz="1600" dirty="0" err="1">
                <a:latin typeface="Consolas" panose="020B0609020204030204" pitchFamily="49" charset="0"/>
              </a:rPr>
              <a:t>to_string</a:t>
            </a:r>
            <a:r>
              <a:rPr lang="pt-BR" sz="1600" dirty="0">
                <a:latin typeface="Consolas" panose="020B0609020204030204" pitchFamily="49" charset="0"/>
              </a:rPr>
              <a:t>();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   s1 = </a:t>
            </a:r>
            <a:r>
              <a:rPr lang="pt-BR" sz="1600" dirty="0" err="1">
                <a:latin typeface="Consolas" panose="020B0609020204030204" pitchFamily="49" charset="0"/>
              </a:rPr>
              <a:t>foo</a:t>
            </a:r>
            <a:r>
              <a:rPr lang="pt-BR" sz="1600" dirty="0">
                <a:latin typeface="Consolas" panose="020B0609020204030204" pitchFamily="49" charset="0"/>
              </a:rPr>
              <a:t>(s1);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   </a:t>
            </a:r>
            <a:r>
              <a:rPr lang="pt-BR" sz="1600" dirty="0" err="1">
                <a:latin typeface="Consolas" panose="020B0609020204030204" pitchFamily="49" charset="0"/>
              </a:rPr>
              <a:t>println</a:t>
            </a:r>
            <a:r>
              <a:rPr lang="pt-BR" sz="1600" dirty="0">
                <a:latin typeface="Consolas" panose="020B0609020204030204" pitchFamily="49" charset="0"/>
              </a:rPr>
              <a:t>!("{s1}");</a:t>
            </a:r>
            <a:endParaRPr lang="pt-BR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pt-BR" sz="1600" dirty="0">
                <a:latin typeface="Consolas" panose="020B0609020204030204" pitchFamily="49" charset="0"/>
              </a:rPr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7667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BF182-0D85-1E13-4DC4-4A145260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89FABE-16F1-B290-750A-2235C3270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Borrowing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036381-5634-3C4C-3325-9C136509A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363272" cy="1684783"/>
          </a:xfrm>
        </p:spPr>
        <p:txBody>
          <a:bodyPr/>
          <a:lstStyle/>
          <a:p>
            <a:pPr marL="0" indent="0" algn="just">
              <a:buNone/>
            </a:pPr>
            <a:r>
              <a:rPr lang="pt-BR" sz="2400" dirty="0"/>
              <a:t>Uma referência armazena o endereço de uma área de memória, a atribuição do endereço de uma variável a outra não transfere a propriedade. Quando isso acontece dizemos que houve um “empréstimo”.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750565C-878A-6647-6DE3-E894B34BD77F}"/>
              </a:ext>
            </a:extLst>
          </p:cNvPr>
          <p:cNvSpPr txBox="1"/>
          <p:nvPr/>
        </p:nvSpPr>
        <p:spPr>
          <a:xfrm>
            <a:off x="457200" y="3270200"/>
            <a:ext cx="3970784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 err="1">
                <a:latin typeface="Consolas" panose="020B0609020204030204" pitchFamily="49" charset="0"/>
              </a:rPr>
              <a:t>fn</a:t>
            </a:r>
            <a:r>
              <a:rPr lang="pt-BR" sz="1600" dirty="0">
                <a:latin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</a:rPr>
              <a:t>foo</a:t>
            </a:r>
            <a:r>
              <a:rPr lang="pt-BR" sz="1600" dirty="0">
                <a:latin typeface="Consolas" panose="020B0609020204030204" pitchFamily="49" charset="0"/>
              </a:rPr>
              <a:t> (s:&amp;</a:t>
            </a:r>
            <a:r>
              <a:rPr lang="pt-BR" sz="1600" dirty="0" err="1">
                <a:latin typeface="Consolas" panose="020B0609020204030204" pitchFamily="49" charset="0"/>
              </a:rPr>
              <a:t>String</a:t>
            </a:r>
            <a:r>
              <a:rPr lang="pt-BR" sz="1600" dirty="0">
                <a:latin typeface="Consolas" panose="020B0609020204030204" pitchFamily="49" charset="0"/>
              </a:rPr>
              <a:t>) {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    </a:t>
            </a:r>
            <a:r>
              <a:rPr lang="pt-BR" sz="1600" dirty="0" err="1">
                <a:latin typeface="Consolas" panose="020B0609020204030204" pitchFamily="49" charset="0"/>
              </a:rPr>
              <a:t>println</a:t>
            </a:r>
            <a:r>
              <a:rPr lang="pt-BR" sz="1600" dirty="0">
                <a:latin typeface="Consolas" panose="020B0609020204030204" pitchFamily="49" charset="0"/>
              </a:rPr>
              <a:t>!("{s}");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}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br>
              <a:rPr lang="pt-BR" sz="1600" dirty="0">
                <a:latin typeface="Consolas" panose="020B0609020204030204" pitchFamily="49" charset="0"/>
              </a:rPr>
            </a:br>
            <a:r>
              <a:rPr lang="pt-BR" sz="1600" dirty="0" err="1">
                <a:latin typeface="Consolas" panose="020B0609020204030204" pitchFamily="49" charset="0"/>
              </a:rPr>
              <a:t>fn</a:t>
            </a:r>
            <a:r>
              <a:rPr lang="pt-BR" sz="1600" dirty="0">
                <a:latin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</a:rPr>
              <a:t>main</a:t>
            </a:r>
            <a:r>
              <a:rPr lang="pt-BR" sz="1600" dirty="0">
                <a:latin typeface="Consolas" panose="020B0609020204030204" pitchFamily="49" charset="0"/>
              </a:rPr>
              <a:t>() {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   </a:t>
            </a:r>
            <a:r>
              <a:rPr lang="pt-BR" sz="1600" dirty="0" err="1">
                <a:latin typeface="Consolas" panose="020B0609020204030204" pitchFamily="49" charset="0"/>
              </a:rPr>
              <a:t>let</a:t>
            </a:r>
            <a:r>
              <a:rPr lang="pt-BR" sz="1600" dirty="0">
                <a:latin typeface="Consolas" panose="020B0609020204030204" pitchFamily="49" charset="0"/>
              </a:rPr>
              <a:t> s1 = "teste".</a:t>
            </a:r>
            <a:r>
              <a:rPr lang="pt-BR" sz="1600" dirty="0" err="1">
                <a:latin typeface="Consolas" panose="020B0609020204030204" pitchFamily="49" charset="0"/>
              </a:rPr>
              <a:t>to_string</a:t>
            </a:r>
            <a:r>
              <a:rPr lang="pt-BR" sz="1600" dirty="0">
                <a:latin typeface="Consolas" panose="020B0609020204030204" pitchFamily="49" charset="0"/>
              </a:rPr>
              <a:t>();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   </a:t>
            </a:r>
            <a:r>
              <a:rPr lang="pt-BR" sz="1600" dirty="0" err="1">
                <a:latin typeface="Consolas" panose="020B0609020204030204" pitchFamily="49" charset="0"/>
              </a:rPr>
              <a:t>foo</a:t>
            </a:r>
            <a:r>
              <a:rPr lang="pt-BR" sz="1600" dirty="0">
                <a:latin typeface="Consolas" panose="020B0609020204030204" pitchFamily="49" charset="0"/>
              </a:rPr>
              <a:t>(&amp;s1);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   </a:t>
            </a:r>
            <a:r>
              <a:rPr lang="pt-BR" sz="1600" dirty="0" err="1">
                <a:latin typeface="Consolas" panose="020B0609020204030204" pitchFamily="49" charset="0"/>
              </a:rPr>
              <a:t>println</a:t>
            </a:r>
            <a:r>
              <a:rPr lang="pt-BR" sz="1600" dirty="0">
                <a:latin typeface="Consolas" panose="020B0609020204030204" pitchFamily="49" charset="0"/>
              </a:rPr>
              <a:t>!("{s1}"); </a:t>
            </a:r>
            <a:endParaRPr lang="pt-BR" sz="16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pt-BR" sz="1600" dirty="0">
                <a:latin typeface="Consolas" panose="020B0609020204030204" pitchFamily="49" charset="0"/>
              </a:rPr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0887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B3FB6-6126-99BE-5059-6A609D256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18B5E-23E7-AA92-2F31-E2E84AE2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Borrowing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345AD9-2D95-BEA9-8375-4A3A06D25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91264" cy="1972815"/>
          </a:xfrm>
        </p:spPr>
        <p:txBody>
          <a:bodyPr/>
          <a:lstStyle/>
          <a:p>
            <a:pPr marL="0" indent="0" algn="just">
              <a:buNone/>
            </a:pPr>
            <a:r>
              <a:rPr lang="pt-BR" sz="2400" dirty="0"/>
              <a:t>Uma referência imutável pode ser emprestada várias vezes. Se alguma referência mutável recebe o endereço de uma área de memória, apenas essa referência pode acessar essa área. Quando a variável que recebeu a referência não está mais no escopo o proprietário volta a ter seu acesso. 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FCDFC5C-48A8-958F-7201-B669C52AECFC}"/>
              </a:ext>
            </a:extLst>
          </p:cNvPr>
          <p:cNvSpPr txBox="1"/>
          <p:nvPr/>
        </p:nvSpPr>
        <p:spPr>
          <a:xfrm>
            <a:off x="4499992" y="3861047"/>
            <a:ext cx="432048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 err="1">
                <a:latin typeface="Consolas" panose="020B06090202040302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</a:rPr>
              <a:t> main() {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   let mut s1 = "teste".</a:t>
            </a:r>
            <a:r>
              <a:rPr lang="en-US" sz="1600" dirty="0" err="1">
                <a:latin typeface="Consolas" panose="020B0609020204030204" pitchFamily="49" charset="0"/>
              </a:rPr>
              <a:t>to_string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   let s2 = &amp;mut s1;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   s2.push('*');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   </a:t>
            </a:r>
            <a:r>
              <a:rPr lang="en-US" sz="1600" dirty="0" err="1">
                <a:latin typeface="Consolas" panose="020B0609020204030204" pitchFamily="49" charset="0"/>
              </a:rPr>
              <a:t>println</a:t>
            </a:r>
            <a:r>
              <a:rPr lang="en-US" sz="1600" dirty="0">
                <a:latin typeface="Consolas" panose="020B0609020204030204" pitchFamily="49" charset="0"/>
              </a:rPr>
              <a:t>!("{s1} - {s2}");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// Erro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9D5312-9ED1-E693-C440-FFAF4A6C4F52}"/>
              </a:ext>
            </a:extLst>
          </p:cNvPr>
          <p:cNvSpPr txBox="1"/>
          <p:nvPr/>
        </p:nvSpPr>
        <p:spPr>
          <a:xfrm>
            <a:off x="341869" y="3861048"/>
            <a:ext cx="468052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en-US" sz="1600" dirty="0" err="1">
                <a:latin typeface="Consolas" panose="020B06090202040302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</a:rPr>
              <a:t> main() {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en-US" sz="1600" dirty="0">
                <a:latin typeface="Consolas" panose="020B0609020204030204" pitchFamily="49" charset="0"/>
              </a:rPr>
              <a:t>   let s1 = "teste".</a:t>
            </a:r>
            <a:r>
              <a:rPr lang="en-US" sz="1600" dirty="0" err="1">
                <a:latin typeface="Consolas" panose="020B0609020204030204" pitchFamily="49" charset="0"/>
              </a:rPr>
              <a:t>to_string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en-US" sz="1600" dirty="0">
                <a:latin typeface="Consolas" panose="020B0609020204030204" pitchFamily="49" charset="0"/>
              </a:rPr>
              <a:t>   let s2 = &amp;s1;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en-US" sz="1600" dirty="0">
                <a:latin typeface="Consolas" panose="020B0609020204030204" pitchFamily="49" charset="0"/>
              </a:rPr>
              <a:t>   let s3 = &amp;s1;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en-US" sz="1600" dirty="0">
                <a:latin typeface="Consolas" panose="020B0609020204030204" pitchFamily="49" charset="0"/>
              </a:rPr>
              <a:t>   </a:t>
            </a:r>
            <a:r>
              <a:rPr lang="en-US" sz="1600" dirty="0" err="1">
                <a:latin typeface="Consolas" panose="020B0609020204030204" pitchFamily="49" charset="0"/>
              </a:rPr>
              <a:t>println</a:t>
            </a:r>
            <a:r>
              <a:rPr lang="en-US" sz="1600" dirty="0">
                <a:latin typeface="Consolas" panose="020B0609020204030204" pitchFamily="49" charset="0"/>
              </a:rPr>
              <a:t>!("{s1} - {s2} - {s3}");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7145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5420F-30C2-9EA5-42E4-46B754923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3104B-E48A-3676-BB6C-8EF689BA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Borrowing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17411B-60D3-2A93-CD58-630518B8F3AF}"/>
              </a:ext>
            </a:extLst>
          </p:cNvPr>
          <p:cNvSpPr txBox="1"/>
          <p:nvPr/>
        </p:nvSpPr>
        <p:spPr>
          <a:xfrm>
            <a:off x="4788024" y="2564904"/>
            <a:ext cx="4680520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 err="1">
                <a:latin typeface="Consolas" panose="020B0609020204030204" pitchFamily="49" charset="0"/>
              </a:rPr>
              <a:t>fn</a:t>
            </a:r>
            <a:r>
              <a:rPr lang="pt-BR" sz="1600" dirty="0">
                <a:latin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</a:rPr>
              <a:t>foo</a:t>
            </a:r>
            <a:r>
              <a:rPr lang="pt-BR" sz="1600" dirty="0">
                <a:latin typeface="Consolas" panose="020B0609020204030204" pitchFamily="49" charset="0"/>
              </a:rPr>
              <a:t> (s:&amp;</a:t>
            </a:r>
            <a:r>
              <a:rPr lang="pt-BR" sz="1600" dirty="0" err="1">
                <a:latin typeface="Consolas" panose="020B0609020204030204" pitchFamily="49" charset="0"/>
              </a:rPr>
              <a:t>mut</a:t>
            </a:r>
            <a:r>
              <a:rPr lang="pt-BR" sz="1600" dirty="0">
                <a:latin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</a:rPr>
              <a:t>String</a:t>
            </a:r>
            <a:r>
              <a:rPr lang="pt-BR" sz="1600" dirty="0">
                <a:latin typeface="Consolas" panose="020B0609020204030204" pitchFamily="49" charset="0"/>
              </a:rPr>
              <a:t>)  {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    </a:t>
            </a:r>
            <a:r>
              <a:rPr lang="pt-BR" sz="1600" dirty="0" err="1">
                <a:latin typeface="Consolas" panose="020B0609020204030204" pitchFamily="49" charset="0"/>
              </a:rPr>
              <a:t>s.push</a:t>
            </a:r>
            <a:r>
              <a:rPr lang="pt-BR" sz="1600" dirty="0">
                <a:latin typeface="Consolas" panose="020B0609020204030204" pitchFamily="49" charset="0"/>
              </a:rPr>
              <a:t>('*');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}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br>
              <a:rPr lang="pt-BR" sz="1600" dirty="0">
                <a:latin typeface="Consolas" panose="020B0609020204030204" pitchFamily="49" charset="0"/>
              </a:rPr>
            </a:br>
            <a:r>
              <a:rPr lang="pt-BR" sz="1600" dirty="0" err="1">
                <a:latin typeface="Consolas" panose="020B0609020204030204" pitchFamily="49" charset="0"/>
              </a:rPr>
              <a:t>fn</a:t>
            </a:r>
            <a:r>
              <a:rPr lang="pt-BR" sz="1600" dirty="0">
                <a:latin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</a:rPr>
              <a:t>main</a:t>
            </a:r>
            <a:r>
              <a:rPr lang="pt-BR" sz="1600" dirty="0">
                <a:latin typeface="Consolas" panose="020B0609020204030204" pitchFamily="49" charset="0"/>
              </a:rPr>
              <a:t>() {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   </a:t>
            </a:r>
            <a:r>
              <a:rPr lang="pt-BR" sz="1600" dirty="0" err="1">
                <a:latin typeface="Consolas" panose="020B0609020204030204" pitchFamily="49" charset="0"/>
              </a:rPr>
              <a:t>let</a:t>
            </a:r>
            <a:r>
              <a:rPr lang="pt-BR" sz="1600" dirty="0">
                <a:latin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</a:rPr>
              <a:t>mut</a:t>
            </a:r>
            <a:r>
              <a:rPr lang="pt-BR" sz="1600" dirty="0">
                <a:latin typeface="Consolas" panose="020B0609020204030204" pitchFamily="49" charset="0"/>
              </a:rPr>
              <a:t> s1 = "teste".</a:t>
            </a:r>
            <a:r>
              <a:rPr lang="pt-BR" sz="1600" dirty="0" err="1">
                <a:latin typeface="Consolas" panose="020B0609020204030204" pitchFamily="49" charset="0"/>
              </a:rPr>
              <a:t>to_string</a:t>
            </a:r>
            <a:r>
              <a:rPr lang="pt-BR" sz="1600" dirty="0">
                <a:latin typeface="Consolas" panose="020B0609020204030204" pitchFamily="49" charset="0"/>
              </a:rPr>
              <a:t>();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   </a:t>
            </a:r>
            <a:r>
              <a:rPr lang="pt-BR" sz="1600" dirty="0" err="1">
                <a:latin typeface="Consolas" panose="020B0609020204030204" pitchFamily="49" charset="0"/>
              </a:rPr>
              <a:t>foo</a:t>
            </a:r>
            <a:r>
              <a:rPr lang="pt-BR" sz="1600" dirty="0">
                <a:latin typeface="Consolas" panose="020B0609020204030204" pitchFamily="49" charset="0"/>
              </a:rPr>
              <a:t>(&amp;</a:t>
            </a:r>
            <a:r>
              <a:rPr lang="pt-BR" sz="1600" dirty="0" err="1">
                <a:latin typeface="Consolas" panose="020B0609020204030204" pitchFamily="49" charset="0"/>
              </a:rPr>
              <a:t>mut</a:t>
            </a:r>
            <a:r>
              <a:rPr lang="pt-BR" sz="1600" dirty="0">
                <a:latin typeface="Consolas" panose="020B0609020204030204" pitchFamily="49" charset="0"/>
              </a:rPr>
              <a:t> s1);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  <a:buNone/>
            </a:pPr>
            <a:r>
              <a:rPr lang="pt-BR" sz="1600" dirty="0">
                <a:latin typeface="Consolas" panose="020B0609020204030204" pitchFamily="49" charset="0"/>
              </a:rPr>
              <a:t>   </a:t>
            </a:r>
            <a:r>
              <a:rPr lang="pt-BR" sz="1600" dirty="0" err="1">
                <a:latin typeface="Consolas" panose="020B0609020204030204" pitchFamily="49" charset="0"/>
              </a:rPr>
              <a:t>println</a:t>
            </a:r>
            <a:r>
              <a:rPr lang="pt-BR" sz="1600" dirty="0">
                <a:latin typeface="Consolas" panose="020B0609020204030204" pitchFamily="49" charset="0"/>
              </a:rPr>
              <a:t>!("{s1}");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pt-BR" sz="1600" dirty="0">
                <a:latin typeface="Consolas" panose="020B0609020204030204" pitchFamily="49" charset="0"/>
              </a:rPr>
              <a:t>}</a:t>
            </a:r>
          </a:p>
          <a:p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2955843-8264-C55C-1AA2-AED7A91F2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91264" cy="676671"/>
          </a:xfrm>
        </p:spPr>
        <p:txBody>
          <a:bodyPr/>
          <a:lstStyle/>
          <a:p>
            <a:pPr marL="0" indent="0">
              <a:buNone/>
            </a:pPr>
            <a:r>
              <a:rPr lang="pt-BR" sz="2400" i="1" dirty="0"/>
              <a:t>Apenas um pode atualizar ou vários podem ler.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FC4070B-E898-1417-224A-27D789CC2005}"/>
              </a:ext>
            </a:extLst>
          </p:cNvPr>
          <p:cNvSpPr txBox="1"/>
          <p:nvPr/>
        </p:nvSpPr>
        <p:spPr>
          <a:xfrm>
            <a:off x="179512" y="2564904"/>
            <a:ext cx="432048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 err="1">
                <a:latin typeface="Consolas" panose="020B06090202040302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</a:rPr>
              <a:t> main() {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   let mut s1 = "teste".</a:t>
            </a:r>
            <a:r>
              <a:rPr lang="en-US" sz="1600" dirty="0" err="1">
                <a:latin typeface="Consolas" panose="020B0609020204030204" pitchFamily="49" charset="0"/>
              </a:rPr>
              <a:t>to_string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   let s2 = &amp;mut s1;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   s2.push('*');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   </a:t>
            </a:r>
            <a:r>
              <a:rPr lang="en-US" sz="1600" dirty="0" err="1">
                <a:latin typeface="Consolas" panose="020B0609020204030204" pitchFamily="49" charset="0"/>
              </a:rPr>
              <a:t>println</a:t>
            </a:r>
            <a:r>
              <a:rPr lang="en-US" sz="1600" dirty="0">
                <a:latin typeface="Consolas" panose="020B0609020204030204" pitchFamily="49" charset="0"/>
              </a:rPr>
              <a:t>!("{s1} - {s2}");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// Erro</a:t>
            </a:r>
          </a:p>
          <a:p>
            <a:pPr eaLnBrk="0" hangingPunct="0">
              <a:lnSpc>
                <a:spcPts val="1425"/>
              </a:lnSpc>
              <a:spcAft>
                <a:spcPts val="600"/>
              </a:spcAft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70930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6900</TotalTime>
  <Words>737</Words>
  <Application>Microsoft Office PowerPoint</Application>
  <PresentationFormat>Apresentação na tela (4:3)</PresentationFormat>
  <Paragraphs>108</Paragraphs>
  <Slides>10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0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Consolas</vt:lpstr>
      <vt:lpstr>Source Sans Pro Black</vt:lpstr>
      <vt:lpstr>Tahoma</vt:lpstr>
      <vt:lpstr>Times New Roman</vt:lpstr>
      <vt:lpstr>Design padrão</vt:lpstr>
      <vt:lpstr>Rust</vt:lpstr>
      <vt:lpstr>&amp;str</vt:lpstr>
      <vt:lpstr>&amp;str</vt:lpstr>
      <vt:lpstr>String</vt:lpstr>
      <vt:lpstr>Ownership</vt:lpstr>
      <vt:lpstr>Ownership</vt:lpstr>
      <vt:lpstr>Ownership</vt:lpstr>
      <vt:lpstr>Borrowing</vt:lpstr>
      <vt:lpstr>Borrowing</vt:lpstr>
      <vt:lpstr>Borrowing</vt:lpstr>
    </vt:vector>
  </TitlesOfParts>
  <Company>PUCPR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Tópicos em Compiladores</dc:title>
  <dc:creator>damiani</dc:creator>
  <cp:lastModifiedBy>Cristiano D. Vasconcellos</cp:lastModifiedBy>
  <cp:revision>705</cp:revision>
  <dcterms:created xsi:type="dcterms:W3CDTF">2005-03-15T13:47:03Z</dcterms:created>
  <dcterms:modified xsi:type="dcterms:W3CDTF">2025-03-27T02:29:15Z</dcterms:modified>
</cp:coreProperties>
</file>